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Bitter Bold" panose="020B0604020202020204" charset="0"/>
      <p:regular r:id="rId12"/>
    </p:embeddedFont>
    <p:embeddedFont>
      <p:font typeface="Bitter ExtraBold" panose="020B0604020202020204" charset="0"/>
      <p:regular r:id="rId13"/>
    </p:embeddedFont>
    <p:embeddedFont>
      <p:font typeface="Public Sans" panose="020B0604020202020204" charset="0"/>
      <p:regular r:id="rId14"/>
    </p:embeddedFont>
    <p:embeddedFont>
      <p:font typeface="Public Sans Bold" panose="020B0604020202020204" charset="0"/>
      <p:regular r:id="rId15"/>
    </p:embeddedFont>
    <p:embeddedFont>
      <p:font typeface="Public Sans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44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9034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AE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DAE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21087" y="491236"/>
            <a:ext cx="7213420" cy="1520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Civic complaints are fragmented before they are even solved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4521087" y="2174180"/>
            <a:ext cx="7213420" cy="42266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521087" y="2174180"/>
            <a:ext cx="7213420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6" name="Text 3"/>
          <p:cNvSpPr/>
          <p:nvPr/>
        </p:nvSpPr>
        <p:spPr>
          <a:xfrm>
            <a:off x="4749681" y="2447348"/>
            <a:ext cx="675623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One problem, many points of failure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749681" y="2905026"/>
            <a:ext cx="6756231" cy="166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Citizens often do not know which authority or portal to use.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Multi-department problems become separate complaints with no shared context.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People struggle to prepare evidence, avoid duplicate reports, and track progress.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749681" y="4686102"/>
            <a:ext cx="3660584" cy="328116"/>
          </a:xfrm>
          <a:prstGeom prst="rect">
            <a:avLst/>
          </a:prstGeom>
          <a:solidFill>
            <a:srgbClr val="FFE01B"/>
          </a:solidFill>
          <a:ln/>
        </p:spPr>
      </p:sp>
      <p:sp>
        <p:nvSpPr>
          <p:cNvPr id="9" name="Text 6"/>
          <p:cNvSpPr/>
          <p:nvPr/>
        </p:nvSpPr>
        <p:spPr>
          <a:xfrm>
            <a:off x="4870527" y="4756622"/>
            <a:ext cx="4028478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100" spc="14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Pan-India pilot: multiple cities and states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236"/>
            <a:ext cx="11277318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CaseLink turns a confusing complaint into a guided case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189" y="1670169"/>
            <a:ext cx="1173450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citizen starts with what they know. CaseLink makes the next steps visible.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399" y="2158305"/>
            <a:ext cx="8266799" cy="4063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17868" y="5301600"/>
            <a:ext cx="3826246" cy="215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15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Create Report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017868" y="5607817"/>
            <a:ext cx="3826246" cy="219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Plain-language report with photo or location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540" y="5217037"/>
            <a:ext cx="272799" cy="2728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09601" y="4350913"/>
            <a:ext cx="3826246" cy="215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15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AI Review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009601" y="4657130"/>
            <a:ext cx="3826246" cy="219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Classification and missing-information prompts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540" y="4266350"/>
            <a:ext cx="272799" cy="2728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09601" y="3408493"/>
            <a:ext cx="3826246" cy="215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15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Recommend Actions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009601" y="3714710"/>
            <a:ext cx="3826246" cy="219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Suggested authority and related reports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540" y="3447933"/>
            <a:ext cx="272799" cy="27280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09601" y="2457806"/>
            <a:ext cx="3826246" cy="215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500" kern="100" spc="-15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Unified Timeline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009601" y="2764024"/>
            <a:ext cx="3826246" cy="219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Separated citizen, community, AI, official updates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5540" y="2629515"/>
            <a:ext cx="272799" cy="2728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236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From street-level report to trackable action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160760"/>
            <a:ext cx="2011610" cy="524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160760"/>
            <a:ext cx="2011610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1427460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783" y="1729680"/>
            <a:ext cx="1554421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7" name="Text 5"/>
          <p:cNvSpPr/>
          <p:nvPr/>
        </p:nvSpPr>
        <p:spPr>
          <a:xfrm>
            <a:off x="685783" y="1884679"/>
            <a:ext cx="155442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Report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783" y="2345055"/>
            <a:ext cx="155442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Text, evidence, and location.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73492" y="1160760"/>
            <a:ext cx="2011709" cy="524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773492" y="1160760"/>
            <a:ext cx="2011709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1" name="Text 9"/>
          <p:cNvSpPr/>
          <p:nvPr/>
        </p:nvSpPr>
        <p:spPr>
          <a:xfrm>
            <a:off x="3002086" y="1427460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002086" y="1729680"/>
            <a:ext cx="1554421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3" name="Text 11"/>
          <p:cNvSpPr/>
          <p:nvPr/>
        </p:nvSpPr>
        <p:spPr>
          <a:xfrm>
            <a:off x="3002086" y="1884679"/>
            <a:ext cx="155452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Review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02086" y="2345055"/>
            <a:ext cx="155452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Correct the AI summary and category.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089894" y="1160760"/>
            <a:ext cx="2011808" cy="524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089894" y="1160760"/>
            <a:ext cx="2011808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7" name="Text 15"/>
          <p:cNvSpPr/>
          <p:nvPr/>
        </p:nvSpPr>
        <p:spPr>
          <a:xfrm>
            <a:off x="5318488" y="1427460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318488" y="1729680"/>
            <a:ext cx="1554620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9" name="Text 17"/>
          <p:cNvSpPr/>
          <p:nvPr/>
        </p:nvSpPr>
        <p:spPr>
          <a:xfrm>
            <a:off x="5318488" y="1884679"/>
            <a:ext cx="155462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Check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18488" y="2345055"/>
            <a:ext cx="1554620" cy="187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 potential related reports without automatic merging.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406395" y="1160760"/>
            <a:ext cx="2011709" cy="524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06395" y="1160760"/>
            <a:ext cx="2011709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23" name="Text 21"/>
          <p:cNvSpPr/>
          <p:nvPr/>
        </p:nvSpPr>
        <p:spPr>
          <a:xfrm>
            <a:off x="7634989" y="1427460"/>
            <a:ext cx="8839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634989" y="1729680"/>
            <a:ext cx="1554421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25" name="Text 23"/>
          <p:cNvSpPr/>
          <p:nvPr/>
        </p:nvSpPr>
        <p:spPr>
          <a:xfrm>
            <a:off x="7634989" y="1884679"/>
            <a:ext cx="155452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CaseLink ID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34989" y="2666325"/>
            <a:ext cx="1554520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 one case and coordinate department tasks.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634989" y="4343102"/>
            <a:ext cx="1232464" cy="328116"/>
          </a:xfrm>
          <a:prstGeom prst="rect">
            <a:avLst/>
          </a:prstGeom>
          <a:solidFill>
            <a:srgbClr val="FFE01B"/>
          </a:solidFill>
          <a:ln/>
        </p:spPr>
      </p:sp>
      <p:sp>
        <p:nvSpPr>
          <p:cNvPr id="28" name="Text 26"/>
          <p:cNvSpPr/>
          <p:nvPr/>
        </p:nvSpPr>
        <p:spPr>
          <a:xfrm>
            <a:off x="7755835" y="4413623"/>
            <a:ext cx="1600358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100" spc="14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CaseLink ID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722797" y="1160760"/>
            <a:ext cx="2011709" cy="524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722797" y="1160760"/>
            <a:ext cx="2011709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31" name="Text 29"/>
          <p:cNvSpPr/>
          <p:nvPr/>
        </p:nvSpPr>
        <p:spPr>
          <a:xfrm>
            <a:off x="9951392" y="1427460"/>
            <a:ext cx="88778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951392" y="1729680"/>
            <a:ext cx="1554421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33" name="Text 31"/>
          <p:cNvSpPr/>
          <p:nvPr/>
        </p:nvSpPr>
        <p:spPr>
          <a:xfrm>
            <a:off x="9951392" y="1884679"/>
            <a:ext cx="155452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Track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951392" y="2345055"/>
            <a:ext cx="1554520" cy="219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Prepare, submit, confirm, and track through the supported official channel.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6833"/>
            <a:ext cx="6807030" cy="855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200" kern="100" spc="-32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AI does the busywork — citizens stay in control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189" y="1453356"/>
            <a:ext cx="3251119" cy="15997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453356"/>
            <a:ext cx="3251119" cy="38100"/>
          </a:xfrm>
          <a:prstGeom prst="rect">
            <a:avLst/>
          </a:prstGeom>
          <a:solidFill>
            <a:srgbClr val="14284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1720067"/>
            <a:ext cx="364620" cy="3646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2663" y="1726652"/>
            <a:ext cx="2247050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5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See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32663" y="2098840"/>
            <a:ext cx="224705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45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Identify visible signals in photos, with uncertainty when evidence is weak.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013100" y="1453356"/>
            <a:ext cx="3251119" cy="15997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013100" y="1453356"/>
            <a:ext cx="3251119" cy="38100"/>
          </a:xfrm>
          <a:prstGeom prst="rect">
            <a:avLst/>
          </a:prstGeom>
          <a:solidFill>
            <a:srgbClr val="14284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694" y="1720067"/>
            <a:ext cx="364620" cy="3646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8574" y="1726652"/>
            <a:ext cx="2247050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5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Understand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788574" y="2098840"/>
            <a:ext cx="22470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45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Classify the issue and extract relevant details.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457189" y="3357761"/>
            <a:ext cx="3251119" cy="15999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457189" y="3357761"/>
            <a:ext cx="3251119" cy="38100"/>
          </a:xfrm>
          <a:prstGeom prst="rect">
            <a:avLst/>
          </a:prstGeom>
          <a:solidFill>
            <a:srgbClr val="14284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83" y="3624472"/>
            <a:ext cx="364620" cy="36462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2663" y="3631056"/>
            <a:ext cx="2247050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5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Ask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1232663" y="4003245"/>
            <a:ext cx="224705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45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Identify missing information before a complaint is drafted.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4013100" y="3357761"/>
            <a:ext cx="3251119" cy="15999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4013100" y="3357761"/>
            <a:ext cx="3251119" cy="38100"/>
          </a:xfrm>
          <a:prstGeom prst="rect">
            <a:avLst/>
          </a:prstGeom>
          <a:solidFill>
            <a:srgbClr val="14284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1694" y="3624472"/>
            <a:ext cx="364620" cy="36462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8574" y="3631056"/>
            <a:ext cx="2247050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5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Guide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4788574" y="4003245"/>
            <a:ext cx="224705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45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Recommend an authority using configured, trusted reference data.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457189" y="5262364"/>
            <a:ext cx="6807030" cy="15997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457189" y="5262364"/>
            <a:ext cx="6807030" cy="38100"/>
          </a:xfrm>
          <a:prstGeom prst="rect">
            <a:avLst/>
          </a:prstGeom>
          <a:solidFill>
            <a:srgbClr val="14284B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783" y="5529075"/>
            <a:ext cx="364620" cy="36462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2663" y="5535659"/>
            <a:ext cx="5802961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5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Connect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1232663" y="5907848"/>
            <a:ext cx="6031555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45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Rank related reports and explain why they may match.</a:t>
            </a:r>
            <a:endParaRPr lang="en-US" sz="14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8595" y="457200"/>
            <a:ext cx="355591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236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One case can coordinate many departments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189" y="1163459"/>
            <a:ext cx="1173450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internal history. Separate tasks. Clear boundaries around official status.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71" y="1651595"/>
            <a:ext cx="9905752" cy="4106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5588" y="2651784"/>
            <a:ext cx="2506548" cy="25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750" kern="100" spc="-1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Central CaseLink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544" y="2523316"/>
            <a:ext cx="495284" cy="4952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9559" y="2641878"/>
            <a:ext cx="2506548" cy="25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750" kern="100" spc="-1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Department A Task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244" y="2503505"/>
            <a:ext cx="495284" cy="4952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0408" y="4533909"/>
            <a:ext cx="2506549" cy="25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750" kern="100" spc="-1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Department B Task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9339" y="4415347"/>
            <a:ext cx="495283" cy="4952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5588" y="4533909"/>
            <a:ext cx="2506548" cy="25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750" kern="100" spc="-1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Department C Task</a:t>
            </a:r>
            <a:endParaRPr lang="en-US" sz="17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639" y="4415347"/>
            <a:ext cx="495283" cy="495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236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Trust is a product feature, not a disclaimer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160760"/>
            <a:ext cx="5486263" cy="1585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160760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1466155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27990" y="1433928"/>
            <a:ext cx="458686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Private by default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7990" y="1894304"/>
            <a:ext cx="458686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Private complaints and sensitive evidence are private by default.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8244" y="1160760"/>
            <a:ext cx="5486263" cy="1585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248244" y="1160760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0" name="Text 8"/>
          <p:cNvSpPr/>
          <p:nvPr/>
        </p:nvSpPr>
        <p:spPr>
          <a:xfrm>
            <a:off x="6476838" y="1466155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62006" y="1433928"/>
            <a:ext cx="454390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Traceable changes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62006" y="1894304"/>
            <a:ext cx="454390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consequential status change has a timestamp and source.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189" y="3050977"/>
            <a:ext cx="5486263" cy="1585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189" y="3050977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783" y="3356372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76804" y="3324145"/>
            <a:ext cx="453805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Recoverable failure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76804" y="3784521"/>
            <a:ext cx="453805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Failed submissions remain unconfirmed; drafts are preserved for retry.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48244" y="3050977"/>
            <a:ext cx="5486263" cy="1585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248244" y="3050977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20" name="Text 18"/>
          <p:cNvSpPr/>
          <p:nvPr/>
        </p:nvSpPr>
        <p:spPr>
          <a:xfrm>
            <a:off x="6476838" y="3356372"/>
            <a:ext cx="8839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67066" y="3324145"/>
            <a:ext cx="453884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Verified urgency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67066" y="3784521"/>
            <a:ext cx="453884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Emergency guidance is shown only with verified instructions and clear action status.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57189" y="4941193"/>
            <a:ext cx="11277318" cy="1272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189" y="4941193"/>
            <a:ext cx="11277318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783" y="5246588"/>
            <a:ext cx="88778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79880" y="5214361"/>
            <a:ext cx="1032603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No invented facts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79880" y="5674737"/>
            <a:ext cx="1055462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AI never invents policies, contacts, ticket IDs, outcomes, or government partnerships.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236"/>
            <a:ext cx="7010225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The hackathon MVP is focused and demoable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667470"/>
            <a:ext cx="3352716" cy="47333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667470"/>
            <a:ext cx="3352716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1813638"/>
            <a:ext cx="289552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Must-have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783" y="2274014"/>
            <a:ext cx="2895528" cy="219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Secure accounts, text/photo reporting, AI assistance, authority guidance, internal case timeline, linked department tasks, related-report review, and failure recovery.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697" y="1667470"/>
            <a:ext cx="3352716" cy="47333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114697" y="1667470"/>
            <a:ext cx="3352716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9" name="Text 7"/>
          <p:cNvSpPr/>
          <p:nvPr/>
        </p:nvSpPr>
        <p:spPr>
          <a:xfrm>
            <a:off x="4343291" y="1813638"/>
            <a:ext cx="289552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Demo path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43291" y="2274014"/>
            <a:ext cx="2895528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Submit a civic issue in any pilot city, review AI suggestions, confirm a related report, split tasks, and track the case.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43291" y="4003179"/>
            <a:ext cx="2895528" cy="31651"/>
          </a:xfrm>
          <a:prstGeom prst="roundRect">
            <a:avLst>
              <a:gd name="adj" fmla="val 49998"/>
            </a:avLst>
          </a:prstGeom>
          <a:solidFill>
            <a:srgbClr val="AEB9C4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291" y="4271584"/>
            <a:ext cx="289552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Integration boundary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43291" y="4731960"/>
            <a:ext cx="2895528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guided filing unless an official portal integration is genuinely authorized and tested.</a:t>
            </a:r>
            <a:endParaRPr lang="en-US" sz="17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196" y="228600"/>
            <a:ext cx="3809905" cy="608141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153196" y="6396057"/>
            <a:ext cx="4038499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525E6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product is the demo path.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91236"/>
            <a:ext cx="7213420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38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Success means a citizen can see what happens next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189" y="1667470"/>
            <a:ext cx="3454314" cy="22115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189" y="1667470"/>
            <a:ext cx="3454314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1941116"/>
            <a:ext cx="73370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2299" y="1940638"/>
            <a:ext cx="272060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Persistent case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2299" y="2401014"/>
            <a:ext cx="2720609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report becomes a persistent CaseLink case instead of disappearing into a form.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16295" y="1667470"/>
            <a:ext cx="3454314" cy="22115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216295" y="1667470"/>
            <a:ext cx="3454314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0" name="Text 8"/>
          <p:cNvSpPr/>
          <p:nvPr/>
        </p:nvSpPr>
        <p:spPr>
          <a:xfrm>
            <a:off x="4444889" y="1941116"/>
            <a:ext cx="7694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7122" y="1940638"/>
            <a:ext cx="268489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Visible next step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7122" y="2401014"/>
            <a:ext cx="2684891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Citizens understand the recommended channel, missing details, and current status.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189" y="4183856"/>
            <a:ext cx="3454314" cy="22115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189" y="4183856"/>
            <a:ext cx="3454314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783" y="4457502"/>
            <a:ext cx="77140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0001" y="4457024"/>
            <a:ext cx="268290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Safe review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0001" y="4917400"/>
            <a:ext cx="2682907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Moderators can review matches and harmful content without exposing private cases.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216295" y="4183856"/>
            <a:ext cx="3454314" cy="22115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216295" y="4183856"/>
            <a:ext cx="3454314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20" name="Text 18"/>
          <p:cNvSpPr/>
          <p:nvPr/>
        </p:nvSpPr>
        <p:spPr>
          <a:xfrm>
            <a:off x="4444889" y="4457502"/>
            <a:ext cx="7831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70814" y="4457024"/>
            <a:ext cx="267120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Complete journey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70814" y="4917400"/>
            <a:ext cx="2671200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prototype proves the complete internal reporting-to-tracking journey end to end.</a:t>
            </a:r>
            <a:endParaRPr lang="en-US" sz="17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985" y="457200"/>
            <a:ext cx="314952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939800"/>
            <a:ext cx="717621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100" spc="14" dirty="0">
                <a:solidFill>
                  <a:srgbClr val="FFFFFF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THE ACCOUNTABILITY LAYER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5156" y="1315046"/>
            <a:ext cx="1002789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600" kern="100" spc="-114" dirty="0">
                <a:solidFill>
                  <a:srgbClr val="FFFFFF"/>
                </a:solidFill>
                <a:latin typeface="Bitter ExtraBold" pitchFamily="34" charset="0"/>
                <a:ea typeface="Bitter ExtraBold" pitchFamily="34" charset="-122"/>
                <a:cs typeface="Bitter ExtraBold" pitchFamily="34" charset="-120"/>
              </a:rPr>
              <a:t>Build civic action people can follow.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765156" y="4324945"/>
            <a:ext cx="656662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Start with a focused pilot across several Indian cities, earn trust through transparent status, and expand state by state only where the data and integrations are real.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65156" y="5607645"/>
            <a:ext cx="2001490" cy="328116"/>
          </a:xfrm>
          <a:prstGeom prst="rect">
            <a:avLst/>
          </a:prstGeom>
          <a:solidFill>
            <a:srgbClr val="FFE01B"/>
          </a:solidFill>
          <a:ln/>
        </p:spPr>
      </p:sp>
      <p:sp>
        <p:nvSpPr>
          <p:cNvPr id="6" name="Text 4"/>
          <p:cNvSpPr/>
          <p:nvPr/>
        </p:nvSpPr>
        <p:spPr>
          <a:xfrm>
            <a:off x="886001" y="5678166"/>
            <a:ext cx="236938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100" spc="14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CivicSaathi CaseLink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570</Words>
  <Application>Microsoft Office PowerPoint</Application>
  <PresentationFormat>Widescreen</PresentationFormat>
  <Paragraphs>100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Public Sans SemiBold</vt:lpstr>
      <vt:lpstr>Arial</vt:lpstr>
      <vt:lpstr>Public Sans</vt:lpstr>
      <vt:lpstr>Bitter Bold</vt:lpstr>
      <vt:lpstr>Public Sans Bold</vt:lpstr>
      <vt:lpstr>Bitter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Ayush Chandra</dc:creator>
  <cp:lastModifiedBy>Ayush Chandra</cp:lastModifiedBy>
  <cp:revision>4</cp:revision>
  <cp:lastPrinted>2026-10-13T15:44:53Z</cp:lastPrinted>
  <dcterms:created xsi:type="dcterms:W3CDTF">2026-10-13T15:41:26Z</dcterms:created>
  <dcterms:modified xsi:type="dcterms:W3CDTF">2026-10-13T18:08:00Z</dcterms:modified>
</cp:coreProperties>
</file>