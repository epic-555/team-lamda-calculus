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ricolage Grotesque ExtraBold" panose="020B0604020202020204" charset="0"/>
      <p:regular r:id="rId13"/>
    </p:embeddedFont>
    <p:embeddedFont>
      <p:font typeface="Mukta" panose="020B0604020202020204" charset="0"/>
      <p:regular r:id="rId14"/>
    </p:embeddedFont>
    <p:embeddedFont>
      <p:font typeface="Mukta Medium" panose="020B0604020202020204" charset="0"/>
      <p:regular r:id="rId15"/>
    </p:embeddedFont>
    <p:embeddedFont>
      <p:font typeface="Mukta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371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221" y="3680619"/>
            <a:ext cx="6927715" cy="2385913"/>
          </a:xfrm>
          <a:prstGeom prst="roundRect">
            <a:avLst>
              <a:gd name="adj" fmla="val 7665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2211" y="4042569"/>
            <a:ext cx="634984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1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CivicSaathi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2211" y="4976019"/>
            <a:ext cx="6349841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Make every civic complaint understandable, traceable, and accountable across India.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1220" y="2148159"/>
            <a:ext cx="6841452" cy="1351485"/>
          </a:xfrm>
          <a:prstGeom prst="roundRect">
            <a:avLst>
              <a:gd name="adj" fmla="val 24837"/>
            </a:avLst>
          </a:prstGeom>
          <a:solidFill>
            <a:srgbClr val="FFE6D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82210" y="2429919"/>
            <a:ext cx="6349841" cy="819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00" kern="100" spc="-47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 SYNERGY HACKATHON 2026 | ABV-IIITM GWALIOR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1900" kern="100" spc="-47" dirty="0">
              <a:solidFill>
                <a:srgbClr val="16201C"/>
              </a:solidFill>
              <a:latin typeface="Bricolage Grotesque ExtraBold" pitchFamily="34" charset="0"/>
              <a:ea typeface="Bricolage Grotesque ExtraBold" pitchFamily="34" charset="-122"/>
              <a:cs typeface="Bricolage Grotesque ExtraBold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1900" kern="100" spc="-47" dirty="0">
                <a:solidFill>
                  <a:srgbClr val="16201C"/>
                </a:solidFill>
                <a:latin typeface="Bricolage Grotesque ExtraBold" pitchFamily="34" charset="0"/>
              </a:rPr>
              <a:t>TEAM NAME- LAMDA CALCULUS</a:t>
            </a:r>
          </a:p>
          <a:p>
            <a:pPr marL="0" indent="0" algn="l">
              <a:lnSpc>
                <a:spcPct val="83000"/>
              </a:lnSpc>
              <a:buNone/>
            </a:pPr>
            <a:endParaRPr lang="en-US" sz="1900" kern="100" spc="-47" dirty="0">
              <a:solidFill>
                <a:srgbClr val="16201C"/>
              </a:solidFill>
              <a:latin typeface="Bricolage Grotesque ExtraBold" pitchFamily="34" charset="0"/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1900" kern="100" spc="-47" dirty="0">
                <a:solidFill>
                  <a:srgbClr val="16201C"/>
                </a:solidFill>
                <a:latin typeface="Bricolage Grotesque ExtraBold" pitchFamily="34" charset="0"/>
              </a:rPr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57200"/>
            <a:ext cx="518147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3036" y="822920"/>
            <a:ext cx="563865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THE CIVIC THREAD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53036" y="1217724"/>
            <a:ext cx="5181470" cy="243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civic problem is not reporting — it is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losing the thread</a:t>
            </a:r>
            <a:endParaRPr lang="en-US" sz="4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3888605"/>
            <a:ext cx="355591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35624" y="3837781"/>
            <a:ext cx="4698882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Residents may not know which authority or channel fits their issue.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36" y="4671838"/>
            <a:ext cx="355591" cy="355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35624" y="4621014"/>
            <a:ext cx="4698882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One real-world problem can become separate complaints across departments.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36" y="5455071"/>
            <a:ext cx="355591" cy="355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035624" y="5404247"/>
            <a:ext cx="4698882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People lack a shared view of ownership, handoffs, and what happens next.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451" cy="6858000"/>
          </a:xfrm>
          <a:prstGeom prst="roundRect">
            <a:avLst>
              <a:gd name="adj" fmla="val 3077"/>
            </a:avLst>
          </a:prstGeom>
          <a:solidFill>
            <a:srgbClr val="AFCBF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0990" y="1586805"/>
            <a:ext cx="5562461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FINAL 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990" y="1976529"/>
            <a:ext cx="5181470" cy="3328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7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Indian residents need one trusted case journey that connects their evidence to the right action, even when responsibility spans multiple departments.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705432" y="2611834"/>
            <a:ext cx="5029074" cy="1634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Today’s systems often capture tickets; they do not make accountability legible.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product must distinguish AI suggestions, citizen input, community signals, and verified official updates.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THE CORE PRODUCT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11277318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Our solution: one citizen problem,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one accountable case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189" y="2257028"/>
            <a:ext cx="1173450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resident’s story stays connected while the work branches behind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778820"/>
            <a:ext cx="2590735" cy="2884388"/>
          </a:xfrm>
          <a:prstGeom prst="roundRect">
            <a:avLst>
              <a:gd name="adj" fmla="val 7059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783" y="3032820"/>
            <a:ext cx="8334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783" y="3352899"/>
            <a:ext cx="213354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783" y="3509070"/>
            <a:ext cx="21335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Capture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783" y="4096742"/>
            <a:ext cx="2133547" cy="126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Turn a plain-language report into a structured internal case.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2716" y="2778820"/>
            <a:ext cx="2590735" cy="2884388"/>
          </a:xfrm>
          <a:prstGeom prst="roundRect">
            <a:avLst>
              <a:gd name="adj" fmla="val 7059"/>
            </a:avLst>
          </a:prstGeom>
          <a:solidFill>
            <a:srgbClr val="FFE6D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81310" y="3032820"/>
            <a:ext cx="8549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81310" y="3352899"/>
            <a:ext cx="213354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81310" y="3509070"/>
            <a:ext cx="21335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Coordinate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1310" y="4096742"/>
            <a:ext cx="2133547" cy="126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Hold multiple department tasks without splitting the story.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48244" y="2778820"/>
            <a:ext cx="2590735" cy="2884388"/>
          </a:xfrm>
          <a:prstGeom prst="roundRect">
            <a:avLst>
              <a:gd name="adj" fmla="val 7059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76838" y="3032820"/>
            <a:ext cx="856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6838" y="3352899"/>
            <a:ext cx="213354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6838" y="3509070"/>
            <a:ext cx="21335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Explain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76838" y="4096742"/>
            <a:ext cx="2133547" cy="126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Carry a reason and review state with every recommendation.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3771" y="2778820"/>
            <a:ext cx="2590735" cy="2884388"/>
          </a:xfrm>
          <a:prstGeom prst="roundRect">
            <a:avLst>
              <a:gd name="adj" fmla="val 7059"/>
            </a:avLst>
          </a:prstGeom>
          <a:solidFill>
            <a:srgbClr val="FFE6D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72366" y="3032820"/>
            <a:ext cx="869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72366" y="3352899"/>
            <a:ext cx="213354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72366" y="3509070"/>
            <a:ext cx="21335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Confirm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72366" y="4096742"/>
            <a:ext cx="2133547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Show filing and status as verified only when genuinely confirmed.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CASE JOURNEY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11277318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From evidence to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visible next step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1649512"/>
            <a:ext cx="3682908" cy="2233712"/>
          </a:xfrm>
          <a:prstGeom prst="roundRect">
            <a:avLst>
              <a:gd name="adj" fmla="val 8187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1801912"/>
            <a:ext cx="8334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121991"/>
            <a:ext cx="3378115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585" y="2278162"/>
            <a:ext cx="337811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Describe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585" y="2784574"/>
            <a:ext cx="3378115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Resident describes the issue and adds location or evidence.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2493" y="1649512"/>
            <a:ext cx="3606710" cy="2233712"/>
          </a:xfrm>
          <a:prstGeom prst="roundRect">
            <a:avLst>
              <a:gd name="adj" fmla="val 8187"/>
            </a:avLst>
          </a:prstGeom>
          <a:solidFill>
            <a:srgbClr val="FFE6D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44889" y="1801912"/>
            <a:ext cx="8549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44889" y="2121991"/>
            <a:ext cx="330191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44889" y="2278162"/>
            <a:ext cx="330191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Extract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44889" y="2784574"/>
            <a:ext cx="3301917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AI extracts details, suggests a category, and asks for missing information.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51599" y="1649512"/>
            <a:ext cx="3682908" cy="2233712"/>
          </a:xfrm>
          <a:prstGeom prst="roundRect">
            <a:avLst>
              <a:gd name="adj" fmla="val 8187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03995" y="1801912"/>
            <a:ext cx="856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03995" y="2121991"/>
            <a:ext cx="3378115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03995" y="2278162"/>
            <a:ext cx="337811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Suggest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03995" y="2784574"/>
            <a:ext cx="3378115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CivicSaathi recommends an authority or channel and surfaces possible related reports.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189" y="4035623"/>
            <a:ext cx="3682908" cy="2233712"/>
          </a:xfrm>
          <a:prstGeom prst="roundRect">
            <a:avLst>
              <a:gd name="adj" fmla="val 8187"/>
            </a:avLst>
          </a:prstGeom>
          <a:solidFill>
            <a:srgbClr val="FFE6D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9585" y="4188023"/>
            <a:ext cx="8693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585" y="4508103"/>
            <a:ext cx="3378115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9585" y="4664273"/>
            <a:ext cx="337811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Review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09585" y="5170686"/>
            <a:ext cx="3378115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Resident or moderator confirms, corrects, or rejects the suggestions.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92493" y="4035623"/>
            <a:ext cx="3606710" cy="2233712"/>
          </a:xfrm>
          <a:prstGeom prst="roundRect">
            <a:avLst>
              <a:gd name="adj" fmla="val 8187"/>
            </a:avLst>
          </a:prstGeom>
          <a:solidFill>
            <a:srgbClr val="E3EE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44889" y="4188023"/>
            <a:ext cx="8633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444889" y="4508103"/>
            <a:ext cx="3301917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44889" y="4664273"/>
            <a:ext cx="330191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Create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444889" y="5170686"/>
            <a:ext cx="3301917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system creates a case, links department tasks, and maintains a transparent timeline.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51599" y="4035623"/>
            <a:ext cx="3682908" cy="2233712"/>
          </a:xfrm>
          <a:prstGeom prst="roundRect">
            <a:avLst>
              <a:gd name="adj" fmla="val 8187"/>
            </a:avLst>
          </a:prstGeom>
          <a:solidFill>
            <a:srgbClr val="FFE6D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03995" y="4188023"/>
            <a:ext cx="8665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203995" y="4508103"/>
            <a:ext cx="3378115" cy="19050"/>
          </a:xfrm>
          <a:prstGeom prst="rect">
            <a:avLst/>
          </a:prstGeom>
          <a:solidFill>
            <a:srgbClr val="FF835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03995" y="4664273"/>
            <a:ext cx="337811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File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203995" y="5170686"/>
            <a:ext cx="3378115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Guided filing preserves the draft until an official acknowledgement is actually received.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DECISION RIGHTS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11277318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 accelerates the work.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Humans own the decision.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2257028"/>
            <a:ext cx="2590735" cy="3970338"/>
          </a:xfrm>
          <a:prstGeom prst="roundRect">
            <a:avLst>
              <a:gd name="adj" fmla="val 7059"/>
            </a:avLst>
          </a:prstGeom>
          <a:solidFill>
            <a:srgbClr val="E3EEFF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536428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3126978"/>
            <a:ext cx="2082748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11182" y="3714651"/>
            <a:ext cx="2082748" cy="1892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Reads text and images, finds missing details, drafts complaints, explains possible matches, and suggests routing.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52716" y="2257028"/>
            <a:ext cx="2590735" cy="3970338"/>
          </a:xfrm>
          <a:prstGeom prst="roundRect">
            <a:avLst>
              <a:gd name="adj" fmla="val 7059"/>
            </a:avLst>
          </a:prstGeom>
          <a:solidFill>
            <a:srgbClr val="FFE6DC"/>
          </a:solidFill>
          <a:ln/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710" y="2536428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6710" y="3126978"/>
            <a:ext cx="2082748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Citizen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606710" y="3714651"/>
            <a:ext cx="2082748" cy="2207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Verifies facts, corrects suggestions, approves consequential actions, and decides whether reports are related.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248244" y="2257028"/>
            <a:ext cx="2590735" cy="3970338"/>
          </a:xfrm>
          <a:prstGeom prst="roundRect">
            <a:avLst>
              <a:gd name="adj" fmla="val 7059"/>
            </a:avLst>
          </a:prstGeom>
          <a:solidFill>
            <a:srgbClr val="E3EEFF"/>
          </a:solidFill>
          <a:ln/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37" y="2536428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02237" y="3126978"/>
            <a:ext cx="2082748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Moderator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502237" y="3714651"/>
            <a:ext cx="2082748" cy="1261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Handles disputed matches, harmful content, spam, and edge cases.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143771" y="2257028"/>
            <a:ext cx="2590735" cy="3970338"/>
          </a:xfrm>
          <a:prstGeom prst="roundRect">
            <a:avLst>
              <a:gd name="adj" fmla="val 7059"/>
            </a:avLst>
          </a:prstGeom>
          <a:solidFill>
            <a:srgbClr val="FFE6DC"/>
          </a:solidFill>
          <a:ln/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7765" y="2536428"/>
            <a:ext cx="457189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97765" y="3126978"/>
            <a:ext cx="2082748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Official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9397765" y="3714651"/>
            <a:ext cx="2082748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Confirms ownership, updates authoritative status, and makes the final operational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PROTOTYPE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11277318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Feasible to prototype — valuable before any national integration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189" y="3095228"/>
            <a:ext cx="6108547" cy="3382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Citizen complaint form with text, location, and optional image.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Structured case summary, missing-field prompts, and authority suggestions with reasons.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Human review of related reports and department assignment.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Case timeline with separate task statuses and explicit confirmation states.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Synthetic cases for testing; guided filing where an authorised live integration is unavailable.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20" y="2638028"/>
            <a:ext cx="5016375" cy="4297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11277318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Trust is designed into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workflow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57189" y="1649512"/>
            <a:ext cx="5410065" cy="1270397"/>
          </a:xfrm>
          <a:prstGeom prst="roundRect">
            <a:avLst>
              <a:gd name="adj" fmla="val 14395"/>
            </a:avLst>
          </a:prstGeom>
          <a:solidFill>
            <a:srgbClr val="16201C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751136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569" y="1751112"/>
            <a:ext cx="452108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Possible matches stay possible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44569" y="2257524"/>
            <a:ext cx="45210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Never auto-merge similar reports; show a possible match for review.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24442" y="1649512"/>
            <a:ext cx="5410065" cy="1270397"/>
          </a:xfrm>
          <a:prstGeom prst="roundRect">
            <a:avLst>
              <a:gd name="adj" fmla="val 14395"/>
            </a:avLst>
          </a:prstGeom>
          <a:solidFill>
            <a:srgbClr val="16201C"/>
          </a:solidFill>
          <a:ln/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39" y="1751136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11822" y="1751112"/>
            <a:ext cx="452108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No invented certainty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111822" y="2257524"/>
            <a:ext cx="45210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Never invent a department, policy, contact, ticket ID, outcome, or partnership.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57189" y="3377009"/>
            <a:ext cx="5410065" cy="1270595"/>
          </a:xfrm>
          <a:prstGeom prst="roundRect">
            <a:avLst>
              <a:gd name="adj" fmla="val 14393"/>
            </a:avLst>
          </a:prstGeom>
          <a:solidFill>
            <a:srgbClr val="16201C"/>
          </a:solidFill>
          <a:ln/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3478633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4569" y="3478609"/>
            <a:ext cx="452108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Privacy by default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244569" y="3985022"/>
            <a:ext cx="45210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Keep sensitive complaints private by default and separate community activity from private cases.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24442" y="3377009"/>
            <a:ext cx="5410065" cy="1270595"/>
          </a:xfrm>
          <a:prstGeom prst="roundRect">
            <a:avLst>
              <a:gd name="adj" fmla="val 14393"/>
            </a:avLst>
          </a:prstGeom>
          <a:solidFill>
            <a:srgbClr val="16201C"/>
          </a:solidFill>
          <a:ln/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039" y="3478633"/>
            <a:ext cx="457189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11822" y="3478609"/>
            <a:ext cx="452108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Failure does not erase progress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111822" y="3985022"/>
            <a:ext cx="45210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Preserve drafts when AI or an external service fails; never mark an unconfirmed filing as successful.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57189" y="5104705"/>
            <a:ext cx="11277318" cy="1270397"/>
          </a:xfrm>
          <a:prstGeom prst="roundRect">
            <a:avLst>
              <a:gd name="adj" fmla="val 14395"/>
            </a:avLst>
          </a:prstGeom>
          <a:solidFill>
            <a:srgbClr val="16201C"/>
          </a:solidFill>
          <a:ln/>
        </p:spPr>
        <p:txBody>
          <a:bodyPr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786" y="5206329"/>
            <a:ext cx="457189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44569" y="5206305"/>
            <a:ext cx="10388340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kta Medium" pitchFamily="34" charset="0"/>
                <a:ea typeface="Mukta Medium" pitchFamily="34" charset="-122"/>
                <a:cs typeface="Mukta Medium" pitchFamily="34" charset="-120"/>
              </a:rPr>
              <a:t>Consequential changes leave a trail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1244569" y="5712718"/>
            <a:ext cx="1038834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Log consequential changes with timestamp, source, and human reason.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46741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189" y="852003"/>
            <a:ext cx="7010225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600" kern="100" spc="-92" dirty="0">
                <a:solidFill>
                  <a:srgbClr val="1620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What we will </a:t>
            </a:r>
            <a:r>
              <a:rPr lang="en-US" sz="4600" kern="100" spc="-92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demonstrate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189" y="2257028"/>
            <a:ext cx="7010225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A resident submits a messy civic issue; CivicSaathi turns it into a reviewable, multi-department case, understandable from report to next step.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3620095"/>
            <a:ext cx="7010225" cy="2379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Test an incomplete report: show the system asking instead of guessing.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Test two related reports: show human-reviewed linking, never automatic merging.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Show an official correction to a suggested owner, with the recorded reason.</a:t>
            </a:r>
            <a:endParaRPr lang="en-US" sz="1800" dirty="0"/>
          </a:p>
          <a:p>
            <a:pPr marL="365760" indent="-365760" algn="l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16201C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Show graceful fallback when AI or filing support is unavailable.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5E98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33387" y="1343620"/>
            <a:ext cx="800080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FFFFFF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THE CIVICSAATHI PROMISE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387" y="1752203"/>
            <a:ext cx="746741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120" dirty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Governance should be something citizens can follow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33387" y="3757216"/>
            <a:ext cx="7467413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CivicSaathi makes the path from “I reported it” to “here is who owns the next step” visible — across cities, states, and civic systems.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3387" y="5120283"/>
            <a:ext cx="1413733" cy="394097"/>
          </a:xfrm>
          <a:prstGeom prst="roundRect">
            <a:avLst>
              <a:gd name="adj" fmla="val 49999"/>
            </a:avLst>
          </a:prstGeom>
          <a:solidFill>
            <a:srgbClr val="FFDAC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6362" y="5185271"/>
            <a:ext cx="163736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AI suggests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61416" y="5120283"/>
            <a:ext cx="1565137" cy="394097"/>
          </a:xfrm>
          <a:prstGeom prst="roundRect">
            <a:avLst>
              <a:gd name="adj" fmla="val 49999"/>
            </a:avLst>
          </a:prstGeom>
          <a:solidFill>
            <a:srgbClr val="FFDAC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54392" y="5185271"/>
            <a:ext cx="178877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People verify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0850" y="5120283"/>
            <a:ext cx="3170357" cy="394097"/>
          </a:xfrm>
          <a:prstGeom prst="roundRect">
            <a:avLst>
              <a:gd name="adj" fmla="val 49999"/>
            </a:avLst>
          </a:prstGeom>
          <a:solidFill>
            <a:srgbClr val="FFDAC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33826" y="5185271"/>
            <a:ext cx="339399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" dirty="0">
                <a:solidFill>
                  <a:srgbClr val="16201C"/>
                </a:solidFill>
                <a:latin typeface="Mukta SemiBold" pitchFamily="34" charset="0"/>
                <a:ea typeface="Mukta SemiBold" pitchFamily="34" charset="-122"/>
                <a:cs typeface="Mukta SemiBold" pitchFamily="34" charset="-120"/>
              </a:rPr>
              <a:t>Accountability stays connected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697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Mukta Medium</vt:lpstr>
      <vt:lpstr>Bricolage Grotesque ExtraBold</vt:lpstr>
      <vt:lpstr>Arial</vt:lpstr>
      <vt:lpstr>Mukta</vt:lpstr>
      <vt:lpstr>Mukta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Harshit Gupta</cp:lastModifiedBy>
  <cp:revision>2</cp:revision>
  <dcterms:created xsi:type="dcterms:W3CDTF">2026-10-13T17:48:26Z</dcterms:created>
  <dcterms:modified xsi:type="dcterms:W3CDTF">2026-10-13T17:55:12Z</dcterms:modified>
</cp:coreProperties>
</file>